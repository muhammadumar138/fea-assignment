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jp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33" y="2010529"/>
            <a:ext cx="6796091" cy="68429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1300"/>
              </a:spcAft>
            </a:pPr>
            <a:r>
              <a:rPr sz="3588" b="1"/>
              <a:t>Finite Element Analysis Lab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33" y="3136548"/>
            <a:ext cx="6422079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0"/>
              </a:spcAft>
            </a:pPr>
            <a:r>
              <a:rPr sz="2400" b="0"/>
              <a:t>Static Structural and Explicit Dynamics Simulations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33" y="3779485"/>
            <a:ext cx="2265300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400" dirty="0"/>
              <a:t>  </a:t>
            </a:r>
            <a:r>
              <a:rPr sz="2000" b="0" dirty="0"/>
              <a:t> Muhammad Umar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3968563"/>
            <a:ext cx="190495" cy="1400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6733" y="4103336"/>
            <a:ext cx="2157450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400"/>
              <a:t>  </a:t>
            </a:r>
            <a:r>
              <a:rPr sz="2000" b="0"/>
              <a:t> Roll No: ME-1899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33" y="4286810"/>
            <a:ext cx="190495" cy="1512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6733" y="4427185"/>
            <a:ext cx="2754985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400"/>
              <a:t>  </a:t>
            </a:r>
            <a:r>
              <a:rPr sz="2000" b="0"/>
              <a:t> Semester VII, Section 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733" y="4587127"/>
            <a:ext cx="190495" cy="1792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6733" y="4741510"/>
            <a:ext cx="2800638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400"/>
              <a:t>  </a:t>
            </a:r>
            <a:r>
              <a:rPr sz="2000" b="0"/>
              <a:t> Lab Instructor: Sir Affan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6733" y="4930588"/>
            <a:ext cx="190495" cy="1400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505512" y="2343150"/>
            <a:ext cx="1914477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96007" y="2499953"/>
            <a:ext cx="997324" cy="25789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956" b="0"/>
              <a:t>Young's Modulus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007" y="2787583"/>
            <a:ext cx="1199944" cy="36843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74" b="1"/>
              <a:t>99,000 MPa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0484" y="2343150"/>
            <a:ext cx="1914477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800979" y="2499953"/>
            <a:ext cx="729623" cy="25789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956" b="0"/>
              <a:t>Static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979" y="2787583"/>
            <a:ext cx="772904" cy="36843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74" b="1"/>
              <a:t>2019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5512" y="3524250"/>
            <a:ext cx="1914477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96007" y="3681054"/>
            <a:ext cx="883512" cy="25789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956" b="0"/>
              <a:t>Dynamic 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6007" y="3968682"/>
            <a:ext cx="663900" cy="36843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74" b="1"/>
              <a:t>278 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0484" y="3524250"/>
            <a:ext cx="1914477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800979" y="3681054"/>
            <a:ext cx="644664" cy="25789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956" b="0"/>
              <a:t>Time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0979" y="3968682"/>
            <a:ext cx="556499" cy="36843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74" b="1"/>
              <a:t>0.2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380999"/>
            <a:ext cx="5152896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C3E50"/>
                </a:solidFill>
              </a:rPr>
              <a:t>Objective /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6733" y="2963639"/>
            <a:ext cx="6527108" cy="387798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b="0">
                <a:solidFill>
                  <a:srgbClr val="34495E"/>
                </a:solidFill>
              </a:rPr>
              <a:t> </a:t>
            </a:r>
            <a:r>
              <a:t>  </a:t>
            </a:r>
            <a:r>
              <a:rPr b="0">
                <a:solidFill>
                  <a:srgbClr val="34495E"/>
                </a:solidFill>
              </a:rPr>
              <a:t> Evaluate </a:t>
            </a:r>
            <a:r>
              <a:rPr b="1">
                <a:solidFill>
                  <a:srgbClr val="2980B9"/>
                </a:solidFill>
              </a:rPr>
              <a:t>stress distribution behavior</a:t>
            </a:r>
            <a:r>
              <a:rPr b="0">
                <a:solidFill>
                  <a:srgbClr val="34495E"/>
                </a:solidFill>
              </a:rPr>
              <a:t> of a hexagonal component 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064192"/>
            <a:ext cx="228594" cy="17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33" y="3430363"/>
            <a:ext cx="4094391" cy="387798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b="0">
                <a:solidFill>
                  <a:srgbClr val="34495E"/>
                </a:solidFill>
              </a:rPr>
              <a:t> </a:t>
            </a:r>
            <a:r>
              <a:t>  </a:t>
            </a:r>
            <a:r>
              <a:rPr b="0">
                <a:solidFill>
                  <a:srgbClr val="34495E"/>
                </a:solidFill>
              </a:rPr>
              <a:t> Under specific loading and constraints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3530917"/>
            <a:ext cx="228594" cy="1771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6733" y="3897089"/>
            <a:ext cx="6274282" cy="387798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b="0">
                <a:solidFill>
                  <a:srgbClr val="34495E"/>
                </a:solidFill>
              </a:rPr>
              <a:t> </a:t>
            </a:r>
            <a:r>
              <a:t>  </a:t>
            </a:r>
            <a:r>
              <a:rPr b="0">
                <a:solidFill>
                  <a:srgbClr val="34495E"/>
                </a:solidFill>
              </a:rPr>
              <a:t> Using both </a:t>
            </a:r>
            <a:r>
              <a:rPr b="1">
                <a:solidFill>
                  <a:srgbClr val="2980B9"/>
                </a:solidFill>
              </a:rPr>
              <a:t>Static Structural</a:t>
            </a:r>
            <a:r>
              <a:rPr b="0">
                <a:solidFill>
                  <a:srgbClr val="34495E"/>
                </a:solidFill>
              </a:rPr>
              <a:t> and </a:t>
            </a:r>
            <a:r>
              <a:rPr b="1">
                <a:solidFill>
                  <a:srgbClr val="2980B9"/>
                </a:solidFill>
              </a:rPr>
              <a:t>Explicit Dynamic</a:t>
            </a:r>
            <a:r>
              <a:rPr b="0">
                <a:solidFill>
                  <a:srgbClr val="34495E"/>
                </a:solidFill>
              </a:rPr>
              <a:t> simulations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33" y="4014787"/>
            <a:ext cx="228594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6733" y="4363813"/>
            <a:ext cx="6361870" cy="387798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34495E"/>
                </a:solidFill>
              </a:rPr>
              <a:t> </a:t>
            </a:r>
            <a:r>
              <a:t>  </a:t>
            </a:r>
            <a:r>
              <a:rPr b="0">
                <a:solidFill>
                  <a:srgbClr val="34495E"/>
                </a:solidFill>
              </a:rPr>
              <a:t> Complete workflow from geometry creation to results analysis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733" y="4464367"/>
            <a:ext cx="228594" cy="1771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34066" y="2181225"/>
            <a:ext cx="4190895" cy="3352800"/>
          </a:xfrm>
          <a:prstGeom prst="round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380999"/>
            <a:ext cx="4943351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C3E50"/>
                </a:solidFill>
              </a:rPr>
              <a:t>Methodology / System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733" y="1238249"/>
            <a:ext cx="5286242" cy="2333624"/>
          </a:xfrm>
          <a:prstGeom prst="roundRect">
            <a:avLst>
              <a:gd name="adj" fmla="val 9795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ounded Rectangle 3"/>
          <p:cNvSpPr/>
          <p:nvPr/>
        </p:nvSpPr>
        <p:spPr>
          <a:xfrm>
            <a:off x="904852" y="1476375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709" y="1600200"/>
            <a:ext cx="172523" cy="22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33486" y="1505211"/>
            <a:ext cx="2180918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C3E50"/>
                </a:solidFill>
              </a:rPr>
              <a:t>Geometry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52" y="2078895"/>
            <a:ext cx="481000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Hexagonal component created in </a:t>
            </a:r>
            <a:r>
              <a:rPr sz="1600" b="1">
                <a:solidFill>
                  <a:srgbClr val="2980B9"/>
                </a:solidFill>
              </a:rPr>
              <a:t>SolidWorks</a:t>
            </a:r>
            <a:r>
              <a:rPr sz="1600" b="0">
                <a:solidFill>
                  <a:srgbClr val="34495E"/>
                </a:solidFill>
              </a:rPr>
              <a:t> and imported to </a:t>
            </a:r>
            <a:r>
              <a:rPr sz="1600" b="1">
                <a:solidFill>
                  <a:srgbClr val="2980B9"/>
                </a:solidFill>
              </a:rPr>
              <a:t>ANSYS Workbench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8719" y="1238249"/>
            <a:ext cx="5286242" cy="2333624"/>
          </a:xfrm>
          <a:prstGeom prst="roundRect">
            <a:avLst>
              <a:gd name="adj" fmla="val 9795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Rounded Rectangle 8"/>
          <p:cNvSpPr/>
          <p:nvPr/>
        </p:nvSpPr>
        <p:spPr>
          <a:xfrm>
            <a:off x="6476838" y="1476375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00659" y="1617345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5472" y="1505211"/>
            <a:ext cx="2383473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C3E50"/>
                </a:solidFill>
              </a:rPr>
              <a:t>Boundary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078895"/>
            <a:ext cx="481000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• Fixed support on one hexagonal face</a:t>
            </a:r>
            <a:r>
              <a:rPr sz="1600"/>
              <a:t>
</a:t>
            </a:r>
            <a:r>
              <a:rPr sz="1600" b="0">
                <a:solidFill>
                  <a:srgbClr val="34495E"/>
                </a:solidFill>
              </a:rPr>
              <a:t> • Remote force applied at </a:t>
            </a:r>
            <a:r>
              <a:rPr sz="1600" b="1">
                <a:solidFill>
                  <a:srgbClr val="2980B9"/>
                </a:solidFill>
              </a:rPr>
              <a:t>1/3</a:t>
            </a:r>
            <a:r>
              <a:rPr sz="1600" b="0">
                <a:solidFill>
                  <a:srgbClr val="34495E"/>
                </a:solidFill>
              </a:rPr>
              <a:t> of fixed face height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33" y="3857625"/>
            <a:ext cx="5286242" cy="2619374"/>
          </a:xfrm>
          <a:prstGeom prst="roundRect">
            <a:avLst>
              <a:gd name="adj" fmla="val 872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ounded Rectangle 13"/>
          <p:cNvSpPr/>
          <p:nvPr/>
        </p:nvSpPr>
        <p:spPr>
          <a:xfrm>
            <a:off x="904852" y="409574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8674" y="4236720"/>
            <a:ext cx="228594" cy="19430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33486" y="4124587"/>
            <a:ext cx="2151551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C3E50"/>
                </a:solidFill>
              </a:rPr>
              <a:t>Meshing Approach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852" y="4717905"/>
            <a:ext cx="4810004" cy="8702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• </a:t>
            </a:r>
            <a:r>
              <a:rPr sz="1600" b="1">
                <a:solidFill>
                  <a:srgbClr val="2980B9"/>
                </a:solidFill>
              </a:rPr>
              <a:t>Tetrahedral elements</a:t>
            </a:r>
            <a:r>
              <a:rPr sz="1600"/>
              <a:t>
</a:t>
            </a:r>
            <a:r>
              <a:rPr sz="1600" b="0">
                <a:solidFill>
                  <a:srgbClr val="34495E"/>
                </a:solidFill>
              </a:rPr>
              <a:t> • Convergence study with multiple mesh densities</a:t>
            </a:r>
            <a:r>
              <a:rPr sz="1600"/>
              <a:t>
</a:t>
            </a:r>
            <a:r>
              <a:rPr sz="1600" b="0">
                <a:solidFill>
                  <a:srgbClr val="34495E"/>
                </a:solidFill>
              </a:rPr>
              <a:t> • Optimal mesh size: 15mm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8719" y="3857625"/>
            <a:ext cx="5286242" cy="2619374"/>
          </a:xfrm>
          <a:prstGeom prst="roundRect">
            <a:avLst>
              <a:gd name="adj" fmla="val 872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Rounded Rectangle 18"/>
          <p:cNvSpPr/>
          <p:nvPr/>
        </p:nvSpPr>
        <p:spPr>
          <a:xfrm>
            <a:off x="6476838" y="409574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00659" y="4245292"/>
            <a:ext cx="228594" cy="1771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05472" y="4124587"/>
            <a:ext cx="1686616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2C3E50"/>
                </a:solidFill>
              </a:rPr>
              <a:t>Analysis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838" y="4712904"/>
            <a:ext cx="4810004" cy="88024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• </a:t>
            </a:r>
            <a:r>
              <a:rPr sz="1600" b="1">
                <a:solidFill>
                  <a:srgbClr val="2980B9"/>
                </a:solidFill>
              </a:rPr>
              <a:t>Static Structural</a:t>
            </a:r>
            <a:r>
              <a:rPr sz="1600" b="0">
                <a:solidFill>
                  <a:srgbClr val="34495E"/>
                </a:solidFill>
              </a:rPr>
              <a:t> simulation</a:t>
            </a:r>
            <a:r>
              <a:rPr sz="1600"/>
              <a:t>
</a:t>
            </a:r>
            <a:r>
              <a:rPr sz="1600" b="0">
                <a:solidFill>
                  <a:srgbClr val="34495E"/>
                </a:solidFill>
              </a:rPr>
              <a:t> • </a:t>
            </a:r>
            <a:r>
              <a:rPr sz="1600" b="1">
                <a:solidFill>
                  <a:srgbClr val="2980B9"/>
                </a:solidFill>
              </a:rPr>
              <a:t>Explicit Dynamics</a:t>
            </a:r>
            <a:r>
              <a:rPr sz="1600" b="0">
                <a:solidFill>
                  <a:srgbClr val="34495E"/>
                </a:solidFill>
              </a:rPr>
              <a:t> simulation</a:t>
            </a:r>
            <a:r>
              <a:rPr sz="1600"/>
              <a:t>
</a:t>
            </a:r>
            <a:r>
              <a:rPr sz="1600" b="0">
                <a:solidFill>
                  <a:srgbClr val="34495E"/>
                </a:solidFill>
              </a:rPr>
              <a:t> • Time step: 0.2 seconds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317503"/>
            <a:ext cx="5485733" cy="6032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C3E50"/>
                </a:solidFill>
              </a:rPr>
              <a:t>Key Components /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733" y="1238249"/>
            <a:ext cx="5238619" cy="4952999"/>
          </a:xfrm>
          <a:prstGeom prst="roundRect">
            <a:avLst>
              <a:gd name="adj" fmla="val 4615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ounded Rectangle 3"/>
          <p:cNvSpPr/>
          <p:nvPr/>
        </p:nvSpPr>
        <p:spPr>
          <a:xfrm>
            <a:off x="952476" y="1523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95347" y="1707696"/>
            <a:ext cx="285742" cy="204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14457" y="1569684"/>
            <a:ext cx="2631554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2C3E50"/>
                </a:solidFill>
              </a:rPr>
              <a:t>Material 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476" y="2271974"/>
            <a:ext cx="4667133" cy="418576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 b="1">
                <a:solidFill>
                  <a:srgbClr val="34495E"/>
                </a:solidFill>
              </a:rPr>
              <a:t>Young's Modulus: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2000" b="1">
                <a:solidFill>
                  <a:srgbClr val="2980B9"/>
                </a:solidFill>
              </a:rPr>
              <a:t>99,000 MPa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100" b="0">
                <a:solidFill>
                  <a:srgbClr val="7F8C8D"/>
                </a:solidFill>
              </a:rPr>
              <a:t>(from roll number)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2407297"/>
            <a:ext cx="285742" cy="1574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2476" y="2757749"/>
            <a:ext cx="2317942" cy="418576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 b="1">
                <a:solidFill>
                  <a:srgbClr val="34495E"/>
                </a:solidFill>
              </a:rPr>
              <a:t>Poisson's Ratio: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2000" b="1">
                <a:solidFill>
                  <a:srgbClr val="2980B9"/>
                </a:solidFill>
              </a:rPr>
              <a:t>0.28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2476" y="2871884"/>
            <a:ext cx="285742" cy="1807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52476" y="3243524"/>
            <a:ext cx="4667133" cy="418576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 b="1">
                <a:solidFill>
                  <a:srgbClr val="34495E"/>
                </a:solidFill>
              </a:rPr>
              <a:t>Density: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2000" b="1">
                <a:solidFill>
                  <a:srgbClr val="2980B9"/>
                </a:solidFill>
              </a:rPr>
              <a:t>2.7 × 10⁻⁶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100" b="0">
                <a:solidFill>
                  <a:srgbClr val="7F8C8D"/>
                </a:solidFill>
              </a:rPr>
              <a:t>kg/mm³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2476" y="3335110"/>
            <a:ext cx="285742" cy="244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86342" y="1238249"/>
            <a:ext cx="5238619" cy="4952999"/>
          </a:xfrm>
          <a:prstGeom prst="roundRect">
            <a:avLst>
              <a:gd name="adj" fmla="val 4615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ounded Rectangle 13"/>
          <p:cNvSpPr/>
          <p:nvPr/>
        </p:nvSpPr>
        <p:spPr>
          <a:xfrm>
            <a:off x="6572085" y="1523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14957" y="1698948"/>
            <a:ext cx="285742" cy="2216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34066" y="1569684"/>
            <a:ext cx="2717026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C3E50"/>
                </a:solidFill>
              </a:rPr>
              <a:t>Analysis Parameters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2085" y="2271974"/>
            <a:ext cx="4667133" cy="418576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 b="1">
                <a:solidFill>
                  <a:srgbClr val="34495E"/>
                </a:solidFill>
              </a:rPr>
              <a:t>Static Force: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2000" b="1">
                <a:solidFill>
                  <a:srgbClr val="2980B9"/>
                </a:solidFill>
              </a:rPr>
              <a:t>2019 N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100" b="0">
                <a:solidFill>
                  <a:srgbClr val="7F8C8D"/>
                </a:solidFill>
              </a:rPr>
              <a:t>(from DOB formula)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72085" y="2385429"/>
            <a:ext cx="285742" cy="2011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72085" y="2757749"/>
            <a:ext cx="4667133" cy="418576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 b="1">
                <a:solidFill>
                  <a:srgbClr val="34495E"/>
                </a:solidFill>
              </a:rPr>
              <a:t>Dynamic Force: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2000" b="1">
                <a:solidFill>
                  <a:srgbClr val="2980B9"/>
                </a:solidFill>
              </a:rPr>
              <a:t>278 N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100" b="0">
                <a:solidFill>
                  <a:srgbClr val="7F8C8D"/>
                </a:solidFill>
              </a:rPr>
              <a:t>(Dollar to PKR rate)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572085" y="2857305"/>
            <a:ext cx="285742" cy="20993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72085" y="3243524"/>
            <a:ext cx="4667133" cy="418576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 b="1">
                <a:solidFill>
                  <a:srgbClr val="34495E"/>
                </a:solidFill>
              </a:rPr>
              <a:t>Time Step: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2000" b="1">
                <a:solidFill>
                  <a:srgbClr val="2980B9"/>
                </a:solidFill>
              </a:rPr>
              <a:t>0.2 seconds</a:t>
            </a:r>
            <a:r>
              <a:rPr sz="1600" b="0">
                <a:solidFill>
                  <a:srgbClr val="34495E"/>
                </a:solidFill>
              </a:rPr>
              <a:t> </a:t>
            </a:r>
            <a:r>
              <a:rPr sz="1100" b="0">
                <a:solidFill>
                  <a:srgbClr val="7F8C8D"/>
                </a:solidFill>
              </a:rPr>
              <a:t>(Explicit Dynamics)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72085" y="3329279"/>
            <a:ext cx="285742" cy="2565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317503"/>
            <a:ext cx="3122265" cy="6032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C3E50"/>
                </a:solidFill>
              </a:rPr>
              <a:t>Results /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733" y="1238249"/>
            <a:ext cx="5238619" cy="5238749"/>
          </a:xfrm>
          <a:prstGeom prst="roundRect">
            <a:avLst>
              <a:gd name="adj" fmla="val 436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667133" y="761999"/>
            <a:ext cx="1714457" cy="1714500"/>
          </a:xfrm>
          <a:prstGeom prst="roundRect">
            <a:avLst>
              <a:gd name="adj" fmla="val 50000"/>
            </a:avLst>
          </a:prstGeom>
          <a:solidFill>
            <a:srgbClr val="3498DB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Rounded Rectangle 4"/>
          <p:cNvSpPr/>
          <p:nvPr/>
        </p:nvSpPr>
        <p:spPr>
          <a:xfrm>
            <a:off x="952476" y="1523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95347" y="1698948"/>
            <a:ext cx="285742" cy="22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14457" y="1569684"/>
            <a:ext cx="3173113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C3E50"/>
                </a:solidFill>
              </a:rPr>
              <a:t>Static Structural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476" y="2297989"/>
            <a:ext cx="4428328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Stress distribution consistent with </a:t>
            </a:r>
            <a:r>
              <a:rPr sz="1600" b="1">
                <a:solidFill>
                  <a:srgbClr val="2980B9"/>
                </a:solidFill>
              </a:rPr>
              <a:t>2019 N</a:t>
            </a:r>
            <a:r>
              <a:rPr sz="1600" b="0">
                <a:solidFill>
                  <a:srgbClr val="34495E"/>
                </a:solidFill>
              </a:rPr>
              <a:t> force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2354035"/>
            <a:ext cx="285742" cy="244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476" y="2774240"/>
            <a:ext cx="4703980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Minimal deformation due to high Young's Modulus 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2830285"/>
            <a:ext cx="285742" cy="244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52476" y="3250490"/>
            <a:ext cx="3035767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Stress values within </a:t>
            </a:r>
            <a:r>
              <a:rPr sz="1600" b="1">
                <a:solidFill>
                  <a:srgbClr val="2980B9"/>
                </a:solidFill>
              </a:rPr>
              <a:t>safe limits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3306535"/>
            <a:ext cx="285742" cy="244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2476" y="3726739"/>
            <a:ext cx="4126322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Mesh convergence achieved with fine mesh 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3782785"/>
            <a:ext cx="285742" cy="2449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952476" y="5495924"/>
            <a:ext cx="4667133" cy="50482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70000"/>
                </a:srgbClr>
              </a:gs>
            </a:gsLst>
            <a:lin ang="162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2476" y="5495924"/>
            <a:ext cx="4667133" cy="5048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</a:rPr>
              <a:t>Stress Distribution (Static)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342" y="1238249"/>
            <a:ext cx="5238619" cy="5238749"/>
          </a:xfrm>
          <a:prstGeom prst="roundRect">
            <a:avLst>
              <a:gd name="adj" fmla="val 436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286742" y="5238749"/>
            <a:ext cx="1714457" cy="1714500"/>
          </a:xfrm>
          <a:prstGeom prst="roundRect">
            <a:avLst>
              <a:gd name="adj" fmla="val 50000"/>
            </a:avLst>
          </a:prstGeom>
          <a:solidFill>
            <a:srgbClr val="E74C3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572085" y="1523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14957" y="1704780"/>
            <a:ext cx="285742" cy="20993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34066" y="1569684"/>
            <a:ext cx="3357266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C3E50"/>
                </a:solidFill>
              </a:rPr>
              <a:t>Explicit Dynamics Results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085" y="2297989"/>
            <a:ext cx="4321824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Captured transient behavior under </a:t>
            </a:r>
            <a:r>
              <a:rPr sz="1600" b="1">
                <a:solidFill>
                  <a:srgbClr val="2980B9"/>
                </a:solidFill>
              </a:rPr>
              <a:t>278 N</a:t>
            </a:r>
            <a:r>
              <a:rPr sz="1600" b="0">
                <a:solidFill>
                  <a:srgbClr val="34495E"/>
                </a:solidFill>
              </a:rPr>
              <a:t> load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2085" y="2354035"/>
            <a:ext cx="285742" cy="244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72085" y="2774240"/>
            <a:ext cx="4532459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Elastic response maintained due to high stiffness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2085" y="2830285"/>
            <a:ext cx="285742" cy="2449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72085" y="3250490"/>
            <a:ext cx="3343031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Stress wave propagation observed 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2085" y="3306535"/>
            <a:ext cx="285742" cy="24492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72085" y="3726739"/>
            <a:ext cx="4214808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Convergence achieved with </a:t>
            </a:r>
            <a:r>
              <a:rPr sz="1600" b="1">
                <a:solidFill>
                  <a:srgbClr val="2980B9"/>
                </a:solidFill>
              </a:rPr>
              <a:t>15mm</a:t>
            </a:r>
            <a:r>
              <a:rPr sz="1600" b="0">
                <a:solidFill>
                  <a:srgbClr val="34495E"/>
                </a:solidFill>
              </a:rPr>
              <a:t> mesh size 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2085" y="3782785"/>
            <a:ext cx="285742" cy="24492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6572085" y="5495924"/>
            <a:ext cx="4667133" cy="50482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70000"/>
                </a:srgbClr>
              </a:gs>
            </a:gsLst>
            <a:lin ang="162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72085" y="5495924"/>
            <a:ext cx="4667133" cy="5048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</a:rPr>
              <a:t>Stress Wave Propagation (Dynamic)</a:t>
            </a:r>
          </a:p>
        </p:txBody>
      </p:sp>
      <p:pic>
        <p:nvPicPr>
          <p:cNvPr id="35" name="Picture 34" descr="A graph on a white background&#10;&#10;AI-generated content may be incorrect.">
            <a:extLst>
              <a:ext uri="{FF2B5EF4-FFF2-40B4-BE49-F238E27FC236}">
                <a16:creationId xmlns:a16="http://schemas.microsoft.com/office/drawing/2014/main" id="{C29C018D-C092-E63E-9CEE-9DC6FEED5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242" y="4345217"/>
            <a:ext cx="5943600" cy="2163445"/>
          </a:xfrm>
          <a:prstGeom prst="rect">
            <a:avLst/>
          </a:prstGeom>
        </p:spPr>
      </p:pic>
      <p:pic>
        <p:nvPicPr>
          <p:cNvPr id="36" name="Picture 3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0FC65DB-880F-F23D-3FD1-993F8E4637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842" y="4388758"/>
            <a:ext cx="5943600" cy="22074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317503"/>
            <a:ext cx="2004010" cy="6032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C3E50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6733" y="1393830"/>
            <a:ext cx="6286342" cy="603242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Both simulations successfully analyzed the hexagonal component behavior 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449160"/>
            <a:ext cx="285742" cy="244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33" y="2155829"/>
            <a:ext cx="6286342" cy="603242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Static analysis showed expected elastic behavior with </a:t>
            </a:r>
            <a:r>
              <a:rPr sz="1600" b="1">
                <a:solidFill>
                  <a:srgbClr val="2980B9"/>
                </a:solidFill>
              </a:rPr>
              <a:t>minimal deformation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211160"/>
            <a:ext cx="285742" cy="244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6733" y="2917830"/>
            <a:ext cx="6286342" cy="603242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Dynamic analysis captured transient response and </a:t>
            </a:r>
            <a:r>
              <a:rPr sz="1600" b="1">
                <a:solidFill>
                  <a:srgbClr val="2980B9"/>
                </a:solidFill>
              </a:rPr>
              <a:t>stress wave propagation</a:t>
            </a:r>
            <a:r>
              <a:rPr sz="1600" b="0">
                <a:solidFill>
                  <a:srgbClr val="34495E"/>
                </a:solidFill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973160"/>
            <a:ext cx="285742" cy="244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6733" y="3679115"/>
            <a:ext cx="5086457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Mesh convergence studies confirmed solution accuracy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735160"/>
            <a:ext cx="285742" cy="244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6733" y="4193465"/>
            <a:ext cx="6293774" cy="357021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56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High Young's Modulus (</a:t>
            </a:r>
            <a:r>
              <a:rPr sz="1600" b="1">
                <a:solidFill>
                  <a:srgbClr val="2980B9"/>
                </a:solidFill>
              </a:rPr>
              <a:t>99,000 MPa</a:t>
            </a:r>
            <a:r>
              <a:rPr sz="1600" b="0">
                <a:solidFill>
                  <a:srgbClr val="34495E"/>
                </a:solidFill>
              </a:rPr>
              <a:t>) contributed to structural stability 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249510"/>
            <a:ext cx="285742" cy="244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6733" y="4708530"/>
            <a:ext cx="6286342" cy="603242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4495E"/>
                </a:solidFill>
              </a:rPr>
              <a:t> </a:t>
            </a:r>
            <a:r>
              <a:rPr sz="1600"/>
              <a:t>  </a:t>
            </a:r>
            <a:r>
              <a:rPr sz="1600" b="0">
                <a:solidFill>
                  <a:srgbClr val="34495E"/>
                </a:solidFill>
              </a:rPr>
              <a:t> Component behavior remained within safe limits under both loading conditions 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763860"/>
            <a:ext cx="285742" cy="244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34066" y="1238249"/>
            <a:ext cx="4190895" cy="5238749"/>
          </a:xfrm>
          <a:prstGeom prst="roundRect">
            <a:avLst>
              <a:gd name="adj" fmla="val 5454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Rounded Rectangle 15"/>
          <p:cNvSpPr/>
          <p:nvPr/>
        </p:nvSpPr>
        <p:spPr>
          <a:xfrm>
            <a:off x="10096247" y="761999"/>
            <a:ext cx="1904952" cy="1904999"/>
          </a:xfrm>
          <a:prstGeom prst="roundRect">
            <a:avLst>
              <a:gd name="adj" fmla="val 50000"/>
            </a:avLst>
          </a:prstGeom>
          <a:solidFill>
            <a:srgbClr val="3498DB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ed Rectangle 16"/>
          <p:cNvSpPr/>
          <p:nvPr/>
        </p:nvSpPr>
        <p:spPr>
          <a:xfrm>
            <a:off x="6857828" y="5048250"/>
            <a:ext cx="1904952" cy="1904999"/>
          </a:xfrm>
          <a:prstGeom prst="roundRect">
            <a:avLst>
              <a:gd name="adj" fmla="val 50000"/>
            </a:avLst>
          </a:prstGeom>
          <a:solidFill>
            <a:srgbClr val="3498DB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619809" y="2588860"/>
            <a:ext cx="2048446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625"/>
              </a:spcAft>
            </a:pPr>
            <a:r>
              <a:rPr sz="2400" b="1">
                <a:solidFill>
                  <a:srgbClr val="2C3E50"/>
                </a:solidFill>
              </a:rPr>
              <a:t> </a:t>
            </a:r>
            <a:r>
              <a:rPr sz="2400" b="1">
                <a:solidFill>
                  <a:srgbClr val="3498DB"/>
                </a:solidFill>
              </a:rPr>
              <a:t> </a:t>
            </a:r>
            <a:r>
              <a:rPr sz="1600"/>
              <a:t>  </a:t>
            </a:r>
            <a:r>
              <a:rPr sz="2400" b="1">
                <a:solidFill>
                  <a:srgbClr val="3498DB"/>
                </a:solidFill>
              </a:rPr>
              <a:t> </a:t>
            </a:r>
            <a:r>
              <a:rPr sz="2400" b="1">
                <a:solidFill>
                  <a:srgbClr val="2C3E50"/>
                </a:solidFill>
              </a:rPr>
              <a:t> Key Finding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19" y="2085973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62680" y="2722497"/>
            <a:ext cx="285742" cy="21285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19809" y="3318982"/>
            <a:ext cx="460319" cy="67723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160"/>
              </a:lnSpc>
              <a:spcBef>
                <a:spcPts val="0"/>
              </a:spcBef>
              <a:spcAft>
                <a:spcPts val="975"/>
              </a:spcAft>
            </a:pPr>
            <a:r>
              <a:rPr sz="4800" b="1">
                <a:solidFill>
                  <a:srgbClr val="3498DB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809" y="3889174"/>
            <a:ext cx="3619409" cy="14990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34495E"/>
                </a:solidFill>
              </a:rPr>
              <a:t>Complementary analysis methods provided comprehensive understanding of hexagonal component behavior under both static and dynamic loading conditions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392</Words>
  <Application>Microsoft Office PowerPoint</Application>
  <PresentationFormat>Widescreen</PresentationFormat>
  <Paragraphs>60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Umar</cp:lastModifiedBy>
  <cp:revision>3</cp:revision>
  <dcterms:created xsi:type="dcterms:W3CDTF">2013-01-27T09:14:16Z</dcterms:created>
  <dcterms:modified xsi:type="dcterms:W3CDTF">2025-11-30T19:11:57Z</dcterms:modified>
  <cp:category/>
</cp:coreProperties>
</file>